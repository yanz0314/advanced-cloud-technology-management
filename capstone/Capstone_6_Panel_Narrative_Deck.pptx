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AI Degree Advisor — Simulation Portfolio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Cloud + AI academic advising: pathways, excess credits, completion — scale advising without scaling staff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Panel 1: Budget Planning &amp; Cost Estimation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68680"/>
            <a:ext cx="114300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Frame ~$500K annual platform economics and multi-year ROI for AI Degree Advisor.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20240"/>
            <a:ext cx="10972800" cy="4114800"/>
          </a:xfrm>
          <a:prstGeom prst="rect">
            <a:avLst/>
          </a:prstGeom>
          <a:solidFill>
            <a:srgbClr val="F5F7FA"/>
          </a:solidFill>
          <a:ln>
            <a:solidFill>
              <a:srgbClr val="82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5A5A5A"/>
                </a:solidFill>
              </a:defRPr>
            </a:pPr>
            <a:r>
              <a:t>Screenshot placeholder</a:t>
            </a:r>
          </a:p>
          <a:p>
            <a:r>
              <a:t>(Add panel screenshot image to auto-fill next run)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Panel 5: Platform Delivery &amp; Automation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68680"/>
            <a:ext cx="114300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Reliable releases for models, APIs, and integrations that students and advisors depend 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20240"/>
            <a:ext cx="10972800" cy="4114800"/>
          </a:xfrm>
          <a:prstGeom prst="rect">
            <a:avLst/>
          </a:prstGeom>
          <a:solidFill>
            <a:srgbClr val="F5F7FA"/>
          </a:solidFill>
          <a:ln>
            <a:solidFill>
              <a:srgbClr val="82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5A5A5A"/>
                </a:solidFill>
              </a:defRPr>
            </a:pPr>
            <a:r>
              <a:t>Screenshot placeholder</a:t>
            </a:r>
          </a:p>
          <a:p>
            <a:r>
              <a:t>(Add panel screenshot image to auto-fill next run)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Panel 6: Reliability vs Cost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68680"/>
            <a:ext cx="114300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Balance uptime for peak registration and advising seasons against monthly cloud run rate.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20240"/>
            <a:ext cx="10972800" cy="4114800"/>
          </a:xfrm>
          <a:prstGeom prst="rect">
            <a:avLst/>
          </a:prstGeom>
          <a:solidFill>
            <a:srgbClr val="F5F7FA"/>
          </a:solidFill>
          <a:ln>
            <a:solidFill>
              <a:srgbClr val="82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5A5A5A"/>
                </a:solidFill>
              </a:defRPr>
            </a:pPr>
            <a:r>
              <a:t>Screenshot placeholder</a:t>
            </a:r>
          </a:p>
          <a:p>
            <a:r>
              <a:t>(Add panel screenshot image to auto-fill next run)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Panel 8/9: Advisor &amp; Student Adoption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68680"/>
            <a:ext cx="114300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Advisor workflow adoption plus student diffusion — network effects accelerate student-facing rollout.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20240"/>
            <a:ext cx="10972800" cy="4114800"/>
          </a:xfrm>
          <a:prstGeom prst="rect">
            <a:avLst/>
          </a:prstGeom>
          <a:solidFill>
            <a:srgbClr val="F5F7FA"/>
          </a:solidFill>
          <a:ln>
            <a:solidFill>
              <a:srgbClr val="82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5A5A5A"/>
                </a:solidFill>
              </a:defRPr>
            </a:pPr>
            <a:r>
              <a:t>Screenshot placeholder</a:t>
            </a:r>
          </a:p>
          <a:p>
            <a:r>
              <a:t>(Add panel screenshot image to auto-fill next run)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Summary Metrics &amp; Managerial Insights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53035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/>
            </a:pPr>
            <a:r>
              <a:t>Summary Metrics (reference scenario)</a:t>
            </a:r>
          </a:p>
          <a:p>
            <a:pPr>
              <a:defRPr sz="1600"/>
            </a:pPr>
            <a:r>
              <a:t>- Annual platform cost (illustrative): ~$500K</a:t>
            </a:r>
          </a:p>
          <a:p>
            <a:pPr>
              <a:defRPr sz="1600"/>
            </a:pPr>
            <a:r>
              <a:t>- Value vs. investment (year one): 2–4× when outcomes land</a:t>
            </a:r>
          </a:p>
          <a:p>
            <a:pPr>
              <a:defRPr sz="1600"/>
            </a:pPr>
            <a:r>
              <a:t>- Targets: −10–15% time-to-degree, ~−20% excess credits, −25–30% advisor workload</a:t>
            </a:r>
          </a:p>
        </p:txBody>
      </p:sp>
      <p:sp>
        <p:nvSpPr>
          <p:cNvPr id="4" name="Rectangle 3"/>
          <p:cNvSpPr/>
          <p:nvPr/>
        </p:nvSpPr>
        <p:spPr>
          <a:xfrm>
            <a:off x="6126480" y="1005840"/>
            <a:ext cx="5486400" cy="4389120"/>
          </a:xfrm>
          <a:prstGeom prst="rect">
            <a:avLst/>
          </a:prstGeom>
          <a:solidFill>
            <a:srgbClr val="EAF4FF"/>
          </a:solidFill>
          <a:ln>
            <a:solidFill>
              <a:srgbClr val="3976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b="1" sz="1800"/>
            </a:pPr>
            <a:r>
              <a:t>Conclusion (Managerial Insights)</a:t>
            </a:r>
          </a:p>
          <a:p>
            <a:pPr>
              <a:defRPr sz="1400"/>
            </a:pPr>
            <a:r>
              <a:t>1) Treat uptime as a student-success asset: registration and pathway guidance must be dependable.</a:t>
            </a:r>
          </a:p>
          <a:p>
            <a:pPr>
              <a:defRPr sz="1400"/>
            </a:pPr>
            <a:r>
              <a:t>2) Invest in AI + clean academic data (rules, transcripts) before scaling marketing to students.</a:t>
            </a:r>
          </a:p>
          <a:p>
            <a:pPr>
              <a:defRPr sz="1400"/>
            </a:pPr>
            <a:r>
              <a:t>3) Train advisors and leaders together so workload shifts from triage to high-touch coaching.</a:t>
            </a:r>
          </a:p>
          <a:p>
            <a:pPr>
              <a:defRPr sz="1400"/>
            </a:pPr>
            <a:r>
              <a:t>4) Track unit economics: ~$500K annual cost pays back when completion and efficiency gains hit target bands.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